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Organoid Quality Classification: Multi-Modality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BCCFF"/>
                </a:solidFill>
              </a:rPr>
              <a:t>Metabolite · Morphology · Image  |  5-fold stratified CV, threshold 0.5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LightGBM vs Logistic Regression · 195 organoids · 11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Balanced accuracy = (TPR + TNR) / 2.  Mean ± std across folds shown.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Metabolite Classifier · LightGBM vs Logistic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6 assays + growth deltas  |  5-fold stratified CV  |  195 organoids × 11 days</a:t>
            </a:r>
          </a:p>
        </p:txBody>
      </p:sp>
      <p:pic>
        <p:nvPicPr>
          <p:cNvPr id="5" name="Picture 4" descr="LightGBM_vs_Logistic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LightGBM avg bal-acc 64.7 %, best 84.1 % (Dy30).  LogReg avg 68.3 %, best 79.9 % (Dy30).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Morphology Classifier · LightGBM vs Logistic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Circ, AR, Solidity, Complexity, Feret, Area, Volume  |  5-fold CV  |  195 organoids × 11 days</a:t>
            </a:r>
          </a:p>
        </p:txBody>
      </p:sp>
      <p:pic>
        <p:nvPicPr>
          <p:cNvPr id="5" name="Picture 4" descr="morphology_LightGBM_vs_LogR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LightGBM avg bal-acc 60.5 %, best 80.8 % (Dy28).  LogReg avg 59.4 %, best 67.1 % (Dy24).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Balanced Accuracy Comparison by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Mean ± Std  (5-fold CV)  |  Image from corrected-aug run (job 1459514);  Combined from job 1489995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97280"/>
            <a:ext cx="11795760" cy="384048"/>
          </a:xfrm>
          <a:prstGeom prst="rect">
            <a:avLst/>
          </a:prstGeom>
          <a:solidFill>
            <a:srgbClr val="2A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4808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14808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Met LightGBM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14808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Met LogReg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14808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Morph LightGBM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14808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Morph LogReg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481328"/>
            <a:ext cx="1179576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5194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55555"/>
                </a:solidFill>
              </a:rPr>
              <a:t>Dy03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51942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77B4"/>
                </a:solidFill>
              </a:rPr>
              <a:t>0.559 ± 0.078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51942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77B4"/>
                </a:solidFill>
              </a:rPr>
              <a:t>0.637 ± 0.155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51942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A02C"/>
                </a:solidFill>
              </a:rPr>
              <a:t>0.453 ± 0.065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1942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A02C"/>
                </a:solidFill>
              </a:rPr>
              <a:t>0.561 ± 0.053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65376"/>
            <a:ext cx="117957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190347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55555"/>
                </a:solidFill>
              </a:rPr>
              <a:t>Dy06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19034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77B4"/>
                </a:solidFill>
              </a:rPr>
              <a:t>0.576 ± 0.082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19034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77B4"/>
                </a:solidFill>
              </a:rPr>
              <a:t>0.634 ± 0.116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190347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A02C"/>
                </a:solidFill>
              </a:rPr>
              <a:t>0.509 ± 0.063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190347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A02C"/>
                </a:solidFill>
              </a:rPr>
              <a:t>0.633 ± 0.109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249424"/>
            <a:ext cx="1179576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28752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55555"/>
                </a:solidFill>
              </a:rPr>
              <a:t>Dy08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228752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77B4"/>
                </a:solidFill>
              </a:rPr>
              <a:t>0.598 ± 0.055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228752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77B4"/>
                </a:solidFill>
              </a:rPr>
              <a:t>0.633 ± 0.093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228752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A02C"/>
                </a:solidFill>
              </a:rPr>
              <a:t>0.497 ± 0.034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28752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A02C"/>
                </a:solidFill>
              </a:rPr>
              <a:t>0.602 ± 0.102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2633472"/>
            <a:ext cx="117957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67157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55555"/>
                </a:solidFill>
              </a:rPr>
              <a:t>Dy10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267157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77B4"/>
                </a:solidFill>
              </a:rPr>
              <a:t>0.529 ± 0.057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267157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77B4"/>
                </a:solidFill>
              </a:rPr>
              <a:t>0.658 ± 0.120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267157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A02C"/>
                </a:solidFill>
              </a:rPr>
              <a:t>0.518 ± 0.069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267157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A02C"/>
                </a:solidFill>
              </a:rPr>
              <a:t>0.511±0.022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3017520"/>
            <a:ext cx="1179576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305562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55555"/>
                </a:solidFill>
              </a:rPr>
              <a:t>0.527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30556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77B4"/>
                </a:solidFill>
              </a:rPr>
              <a:t>0.595 ± 0.074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30556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77B4"/>
                </a:solidFill>
              </a:rPr>
              <a:t>0.608 ± 0.104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30556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A02C"/>
                </a:solidFill>
              </a:rPr>
              <a:t>0.566 ± 0.081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30556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A02C"/>
                </a:solidFill>
              </a:rPr>
              <a:t>0.554 ± 0.133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3401568"/>
            <a:ext cx="117957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34396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55555"/>
                </a:solidFill>
              </a:rPr>
              <a:t>Dy15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343966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77B4"/>
                </a:solidFill>
              </a:rPr>
              <a:t>0.609 ± 0.093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6120" y="343966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77B4"/>
                </a:solidFill>
              </a:rPr>
              <a:t>0.604 ± 0.130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34396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A02C"/>
                </a:solidFill>
              </a:rPr>
              <a:t>0.485 ± 0.035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34396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A02C"/>
                </a:solidFill>
              </a:rPr>
              <a:t>0.518 ± 0.132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3785616"/>
            <a:ext cx="1179576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82371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55555"/>
                </a:solidFill>
              </a:rPr>
              <a:t>Dy17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20" y="382371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77B4"/>
                </a:solidFill>
              </a:rPr>
              <a:t>0.585 ± 0.110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46120" y="382371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77B4"/>
                </a:solidFill>
              </a:rPr>
              <a:t>0.678 ± 0.086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382371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A02C"/>
                </a:solidFill>
              </a:rPr>
              <a:t>0.579 ± 0.074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382371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A02C"/>
                </a:solidFill>
              </a:rPr>
              <a:t>0.648 ± 0.103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4169664"/>
            <a:ext cx="117957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420776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55555"/>
                </a:solidFill>
              </a:rPr>
              <a:t>0.500±0.000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17320" y="420776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77B4"/>
                </a:solidFill>
              </a:rPr>
              <a:t>0.732 ± 0.099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46120" y="420776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77B4"/>
                </a:solidFill>
              </a:rPr>
              <a:t>0.509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0" y="420776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A02C"/>
                </a:solidFill>
              </a:rPr>
              <a:t>0.703 ± 0.052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0" y="420776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A02C"/>
                </a:solidFill>
              </a:rPr>
              <a:t>0.576 ± 0.084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2880" y="4553712"/>
            <a:ext cx="1179576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459181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55555"/>
                </a:solidFill>
              </a:rPr>
              <a:t>Dy24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17320" y="45918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77B4"/>
                </a:solidFill>
              </a:rPr>
              <a:t>0.713 ± 0.109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46120" y="45918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77B4"/>
                </a:solidFill>
              </a:rPr>
              <a:t>0.721 ± 0.073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3520" y="45918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A02C"/>
                </a:solidFill>
              </a:rPr>
              <a:t>0.748 ± 0.080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6640" y="45918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A02C"/>
                </a:solidFill>
              </a:rPr>
              <a:t>0.671 ± 0.056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2880" y="4937760"/>
            <a:ext cx="117957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497586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55555"/>
                </a:solidFill>
              </a:rPr>
              <a:t>Dy28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17320" y="497586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77B4"/>
                </a:solidFill>
              </a:rPr>
              <a:t>0.776 ± 0.068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46120" y="497586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77B4"/>
                </a:solidFill>
              </a:rPr>
              <a:t>0.755 ± 0.033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3520" y="497586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A02C"/>
                </a:solidFill>
              </a:rPr>
              <a:t>0.808 ± 0.114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06640" y="497586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A02C"/>
                </a:solidFill>
              </a:rPr>
              <a:t>0.670 ± 0.182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2880" y="5321808"/>
            <a:ext cx="1179576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" y="535990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55555"/>
                </a:solidFill>
              </a:rPr>
              <a:t>Dy30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17320" y="535990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77B4"/>
                </a:solidFill>
              </a:rPr>
              <a:t>0.841 ± 0.045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46120" y="535990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77B4"/>
                </a:solidFill>
              </a:rPr>
              <a:t>0.500±0.000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03520" y="53599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A02C"/>
                </a:solidFill>
              </a:rPr>
              <a:t>0.790 ± 0.065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06640" y="53599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A02C"/>
                </a:solidFill>
              </a:rPr>
              <a:t>0.532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Met = metabolite features (6 assays + deltas).  Morph = shape features (Circ, AR, Solidity, Complexity, Feret, Area, Volume).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Image Classifier — EfficientNet-B0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series_idor · 5-fold CV (corrected augmentation, job 1459514)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Multi-Modality Fusion — Balanced Accuracy by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Left: single modalities  ·  Right: late-fusion combinations  ·  ±1 SD shading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