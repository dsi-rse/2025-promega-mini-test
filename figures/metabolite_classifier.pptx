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194560"/>
          </a:xfrm>
          <a:prstGeom prst="rect">
            <a:avLst/>
          </a:prstGeom>
          <a:solidFill>
            <a:srgbClr val="1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Metabolite-Based Organoid Quality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CCFF"/>
                </a:solidFill>
              </a:rPr>
              <a:t>6 assay panels  ·  LightGBM vs Logistic Regression  ·  5-fold stratified CV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BBFF"/>
                </a:solidFill>
              </a:rPr>
              <a:t>195 labeled organoids  ·  11 timepoints (Day 3 – 30)  ·  Threshold fixed at 0.5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• Metabolite assays measure extracellular metabolite concentrations from culture media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• Features engineered: raw concentration + growth delta (change from prior timepoint) + initial concentration (Day 3 baseline)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77639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• MalateGlo Dy10 data quality issue discovered and resolved — results unaffected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79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• Performance improves strongly from Day 20.5, peaking at 0.84 balanced accuracy on Day 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FF"/>
                </a:solidFill>
              </a:rPr>
              <a:t>6 metabolite assays × 3 feature types = up to 18 features per organoid per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78992"/>
            <a:ext cx="6217920" cy="420624"/>
          </a:xfrm>
          <a:prstGeom prst="rect">
            <a:avLst/>
          </a:prstGeom>
          <a:solidFill>
            <a:srgbClr val="2A5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129792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Assay (column)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129792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Metabolite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129792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Biological role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" y="1499616"/>
            <a:ext cx="6217920" cy="420624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1537716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GlucoseGlo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537716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Glucose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1537716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Energy substrate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" y="1920240"/>
            <a:ext cx="6217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" y="1958340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GlutamateGlo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1958340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Glutamate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1958340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Amino acid / TCA input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2340864"/>
            <a:ext cx="6217920" cy="420624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" y="2378964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LactateGlo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2378964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Lactate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2378964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Glycolysis output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" y="2761488"/>
            <a:ext cx="6217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" y="2799588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PyruvateGlo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2799588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Pyruvate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2799588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Glycolysis / TCA junction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" y="3182112"/>
            <a:ext cx="6217920" cy="420624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" y="3220212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62728"/>
                </a:solidFill>
              </a:rPr>
              <a:t>MalateGlo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3220212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62728"/>
                </a:solidFill>
              </a:rPr>
              <a:t>Malate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3220212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62728"/>
                </a:solidFill>
              </a:rPr>
              <a:t>TCA intermediate  ★ data quality issue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" y="3602736"/>
            <a:ext cx="6217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" y="3640836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BCAAGlo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3640836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BCAA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3640836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Branched-chain amino acids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D6B"/>
                </a:solidFill>
              </a:rPr>
              <a:t>Feature types extracted: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1508760"/>
            <a:ext cx="5303520" cy="10972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12280" y="1584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77B4"/>
                </a:solidFill>
              </a:rPr>
              <a:t>Concentration (µM)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19202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Raw assay value at this timepoint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2743200"/>
            <a:ext cx="53035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12280" y="2819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77B4"/>
                </a:solidFill>
              </a:rPr>
              <a:t>Growth delta (µM)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31546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Change since previous timepoint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75120" y="3977639"/>
            <a:ext cx="5303520" cy="10972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12280" y="405383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77B4"/>
                </a:solidFill>
              </a:rPr>
              <a:t>Initial conc. (µM)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4389119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Value at very first timepoint (Day 3)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" y="64465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2728"/>
                </a:solidFill>
              </a:rPr>
              <a:t>★ MalateGlo conditionally excluded at Dy10 (day_num &gt; 10 condition in pipeline) and Dy13 growth delta — see slide 7 for data quality details.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Cross-Validation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FF"/>
                </a:solidFill>
              </a:rPr>
              <a:t>Why k-fold CV instead of a fixed train/test split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1097280"/>
            <a:ext cx="54864" cy="4114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97280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D6B"/>
                </a:solidFill>
              </a:rPr>
              <a:t>Why 5-fold CV?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81328"/>
            <a:ext cx="11704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Dataset has only 205 organoids (31 Not Acceptable, 174 Acceptable). A single 80/10/10 split leaves only ~6 Not Acceptable in the test set — one wrong prediction changes balanced accuracy by ≥ 8 pp. 5-fold CV uses all 205 organoids for evaluation, giving a more reliable estimate.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" y="2212848"/>
            <a:ext cx="54864" cy="4114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212848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D6B"/>
                </a:solidFill>
              </a:rPr>
              <a:t>Outer loop: 5-fold stratified CV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596896"/>
            <a:ext cx="11704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Organoids are shuffled and split into 5 folds, preserving class balance. Each fold's test set is held out while the other 4 folds train the model. Balanced accuracy is computed per fold, then averaged (mean ± std reported).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3328415"/>
            <a:ext cx="54864" cy="4114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3328415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D6B"/>
                </a:solidFill>
              </a:rPr>
              <a:t>Inner loop: 3-fold GridSearch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712463"/>
            <a:ext cx="11704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Inside each outer fold, a 3-fold GridSearch selects hyperparameters (max_depth, num_leaves, learning_rate, n_estimators for LightGBM; C, penalty for LogReg). This prevents leakage from the test fold.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4443984"/>
            <a:ext cx="54864" cy="4114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4443984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D6B"/>
                </a:solidFill>
              </a:rPr>
              <a:t>Threshold fixed at 0.5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28032"/>
            <a:ext cx="11704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Threshold is NOT tuned on validation data — fixing at 0.5 avoids a subtle form of data leakage where threshold optimisation inflates metrics. LightGBM's scale_pos_weight is set per fold to handle class imbalance.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" y="5559552"/>
            <a:ext cx="54864" cy="4114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5559552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D6B"/>
                </a:solidFill>
              </a:rPr>
              <a:t>Out-of-fold (OOF) aggregation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5943600"/>
            <a:ext cx="11704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Predictions from all 5 held-out folds are concatenated to form a single OOF prediction covering all 205 organoids — reported alongside the per-fold mean ± std for transparency.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5-Fold CV Results — LightGBM vs Logistic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FF"/>
                </a:solidFill>
              </a:rPr>
              <a:t>195 labeled organoids · Shaded band = ±1 std across folds</a:t>
            </a:r>
          </a:p>
        </p:txBody>
      </p:sp>
      <p:pic>
        <p:nvPicPr>
          <p:cNvPr id="5" name="Picture 4" descr="LightGBM_vs_Logistic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78992"/>
            <a:ext cx="107899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Per-Day Results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FF"/>
                </a:solidFill>
              </a:rPr>
              <a:t>Mean ± Std balanced accuracy (5-fold CV) · Recall = fraction of Not Acceptable correctly identified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78992"/>
            <a:ext cx="11978640" cy="402336"/>
          </a:xfrm>
          <a:prstGeom prst="rect">
            <a:avLst/>
          </a:prstGeom>
          <a:solidFill>
            <a:srgbClr val="2A5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129792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129792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LGBM bal-acc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1129792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LGBM recall 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29792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LogReg bal-acc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129792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LogReg recall 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" y="1481328"/>
            <a:ext cx="1197864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" y="1519428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3D6B"/>
                </a:solidFill>
              </a:rPr>
              <a:t>Dy03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519428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0.559 ± 0.078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1519428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0.866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519428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7F0E"/>
                </a:solidFill>
              </a:rPr>
              <a:t>0.637 ± 0.155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519428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0.640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1883664"/>
            <a:ext cx="119786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" y="1921764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3D6B"/>
                </a:solidFill>
              </a:rPr>
              <a:t>Dy06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1921764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0.576 ± 0.082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921764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0.866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92176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7F0E"/>
                </a:solidFill>
              </a:rPr>
              <a:t>0.634 ± 0.116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1921764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0.592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" y="2286000"/>
            <a:ext cx="1197864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" y="2324100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3D6B"/>
                </a:solidFill>
              </a:rPr>
              <a:t>Dy08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2324100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0.598 ± 0.055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24100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0.872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32410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7F0E"/>
                </a:solidFill>
              </a:rPr>
              <a:t>0.633 ± 0.093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2324100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0.756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" y="2688336"/>
            <a:ext cx="119786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" y="2726436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3D6B"/>
                </a:solidFill>
              </a:rPr>
              <a:t>Dy10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2726436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0.529 ± 0.057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2726436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0.890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726436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7F0E"/>
                </a:solidFill>
              </a:rPr>
              <a:t>0.658 ± 0.120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2726436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0.543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" y="3090672"/>
            <a:ext cx="1197864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7160" y="3128772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3D6B"/>
                </a:solidFill>
              </a:rPr>
              <a:t>Dy13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40" y="3128772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0.595 ± 0.074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3128772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0.872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3128772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7F0E"/>
                </a:solidFill>
              </a:rPr>
              <a:t>0.608 ± 0.104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3128772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0.610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" y="3493008"/>
            <a:ext cx="119786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7160" y="3531108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3D6B"/>
                </a:solidFill>
              </a:rPr>
              <a:t>Dy15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91640" y="3531108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77B4"/>
                </a:solidFill>
              </a:rPr>
              <a:t>0.609 ± 0.093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94760" y="3531108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0.902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3531108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0.604 ± 0.130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3531108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0.665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" y="3895344"/>
            <a:ext cx="1197864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7160" y="3933444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3D6B"/>
                </a:solidFill>
              </a:rPr>
              <a:t>Dy17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91640" y="3933444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0.585 ± 0.110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94760" y="3933444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0.902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393344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7F0E"/>
                </a:solidFill>
              </a:rPr>
              <a:t>0.678 ± 0.086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3933444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0.713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" y="4297680"/>
            <a:ext cx="119786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7160" y="4335780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3D6B"/>
                </a:solidFill>
              </a:rPr>
              <a:t>Dy20_5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91640" y="4335780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0.732 ± 0.099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94760" y="4335780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0.921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433578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7F0E"/>
                </a:solidFill>
              </a:rPr>
              <a:t>0.788 ± 0.144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6760" y="4335780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0.805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" y="4700016"/>
            <a:ext cx="1197864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37160" y="4738116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3D6B"/>
                </a:solidFill>
              </a:rPr>
              <a:t>Dy24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691640" y="4738116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0.713 ± 0.109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94760" y="4738116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0.916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17920" y="4738116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7F0E"/>
                </a:solidFill>
              </a:rPr>
              <a:t>0.721 ± 0.073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66760" y="4738116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0.778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1440" y="5102352"/>
            <a:ext cx="119786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37160" y="5140452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3D6B"/>
                </a:solidFill>
              </a:rPr>
              <a:t>Dy28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91640" y="5140452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77B4"/>
                </a:solidFill>
              </a:rPr>
              <a:t>0.776 ± 0.068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94760" y="5140452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0.971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0" y="5140452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0.755 ± 0.033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66760" y="5140452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0.906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440" y="5504688"/>
            <a:ext cx="1197864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37160" y="5542788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3D6B"/>
                </a:solidFill>
              </a:rPr>
              <a:t>Dy30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91640" y="5542788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77B4"/>
                </a:solidFill>
              </a:rPr>
              <a:t>0.841 ± 0.045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794760" y="5542788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0.977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17920" y="5542788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0.799 ± 0.041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66760" y="5542788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0.860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7160" y="6473952"/>
            <a:ext cx="1188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Bold = better model for that day.  Both models plateau ~0.63 on early days; LightGBM leads at Day 30 (0.841 vs 0.799).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LightGBM Feature Importance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FF"/>
                </a:solidFill>
              </a:rPr>
              <a:t>Mean gain across 5 folds — higher = more discriminative splits</a:t>
            </a:r>
          </a:p>
        </p:txBody>
      </p:sp>
      <p:pic>
        <p:nvPicPr>
          <p:cNvPr id="5" name="Picture 4" descr="feat_imp_Dy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78992"/>
            <a:ext cx="5760720" cy="5394960"/>
          </a:xfrm>
          <a:prstGeom prst="rect">
            <a:avLst/>
          </a:prstGeom>
        </p:spPr>
      </p:pic>
      <p:pic>
        <p:nvPicPr>
          <p:cNvPr id="6" name="Picture 5" descr="feat_imp_Dy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78992"/>
            <a:ext cx="5760720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6473952"/>
            <a:ext cx="1179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Lactate and Glutamate dominate at Dy24. MalateGlo growth becomes the top feature at Dy30. Growth deltas (change since prior day) outweigh raw concentrations at late timepoints.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MalateGlo Data Quality Issue — Plate BA2 96_2 at Day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FF"/>
                </a:solidFill>
              </a:rPr>
              <a:t>91 records (57 labeled) with highly negative MalateGlo values: −1064 to −5662 µM</a:t>
            </a:r>
          </a:p>
        </p:txBody>
      </p:sp>
      <p:pic>
        <p:nvPicPr>
          <p:cNvPr id="5" name="Picture 4" descr="malate_outlier_dy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78992"/>
            <a:ext cx="6217920" cy="4754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629400" y="1143000"/>
            <a:ext cx="54864" cy="36576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114300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D6B"/>
                </a:solidFill>
              </a:rPr>
              <a:t>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1490472"/>
            <a:ext cx="5166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Outlier MalateGlo values of −5000 µM detected during data exploration. All 91 outlier records come from a single plate: BA2 96_2 on Day 10. Other 4 plates (BA1 96_1, BA2 96_1, BA3 96_1, BA4 96_1) show values near 0 µM.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2313432"/>
            <a:ext cx="54864" cy="36576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231343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D6B"/>
                </a:solidFill>
              </a:rPr>
              <a:t>Likely cause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660904"/>
            <a:ext cx="5166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Suspected plate-level contamination or assay failure for the MalateGlo assay on this specific plate-day combination.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0" y="3483864"/>
            <a:ext cx="54864" cy="36576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348386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D6B"/>
                </a:solidFill>
              </a:rPr>
              <a:t>Fix applied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3831336"/>
            <a:ext cx="5166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Added CONCENTRATION_FLOOR = −500 µM in data_loader.py. Values below this floor are set to NaN. LightGBM handles NaN natively via its missing-value splits.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4654296"/>
            <a:ext cx="54864" cy="36576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4654296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D6B"/>
                </a:solidFill>
              </a:rPr>
              <a:t>Downstream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5001768"/>
            <a:ext cx="5166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MalateGlo_growth at Dy13 would also be affected (delta from Dy10 → Dy13 carries the NaN forward). However — see next slide — this is already harmless due to conditional exclusion.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MalateGlo Resolution — Results Unaffected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FF"/>
                </a:solidFill>
              </a:rPr>
              <a:t>CONDITIONAL_METABOLITES already excludes MalateGlo at Day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1143000"/>
            <a:ext cx="73152" cy="45720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D6B"/>
                </a:solidFill>
              </a:rPr>
              <a:t>CONDITIONAL_METABOLITES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554480"/>
            <a:ext cx="11704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CONDITIONAL_METABOLITES = {"MalateGlo": lambda day_num: day_num &gt; 10}
MalateGlo is only included as a feature when day_num &gt; 10. Day 10 has day_num = 10 (not &gt; 10), so MalateGlo_concentration is never in the Dy10 feature vector. The outliers never enter the model.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" y="2788920"/>
            <a:ext cx="73152" cy="45720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78892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D6B"/>
                </a:solidFill>
              </a:rPr>
              <a:t>MalateGlo_growth at Dy13 also absent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200400"/>
            <a:ext cx="11704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The growth feature Δ(Dy13 − Dy10) would propagate the NaN. But the pipeline only computes growth deltas between consecutive days where the metabolite is included — since MalateGlo is excluded at Dy10, no growth delta is formed. Verified: 0 NaN values in MalateGlo_concentration at Dy13.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4434840"/>
            <a:ext cx="73152" cy="4572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443484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D6B"/>
                </a:solidFill>
              </a:rPr>
              <a:t>NaN floor as defensive programming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846320"/>
            <a:ext cx="11704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The CONCENTRATION_FLOOR = −500 µM fix was added anyway as a safety net for future edge cases. If a different plate were contaminated on a day where MalateGlo IS included (Dy13+), the NaN floor would protect the model.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" y="5760720"/>
            <a:ext cx="11978640" cy="868680"/>
          </a:xfrm>
          <a:prstGeom prst="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5806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D6B"/>
                </a:solidFill>
              </a:rPr>
              <a:t>Results comparison (Dy10 LightGBM):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61264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A02C"/>
                </a:solidFill>
              </a:rPr>
              <a:t>With NaN floor (current):  0.529 ± 0.057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64465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Without NaN floor (old):   0.529 ± 0.057  (identical — outliers were excluded by CONDITIONAL_METABOLITES)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1097280"/>
            <a:ext cx="73152" cy="4572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D6B"/>
                </a:solidFill>
              </a:rPr>
              <a:t>Metabolites provide strong late-stage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08760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Balanced accuracy rises from ~0.58 (Days 3–17) to ~0.77 (Days 20–30). Best performance: LightGBM at Day 30 = 0.841. This aligns with biology: metabolic differences become pronounced as organoids mature.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" y="2468880"/>
            <a:ext cx="73152" cy="4572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246888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D6B"/>
                </a:solidFill>
              </a:rPr>
              <a:t>LightGBM outperforms Logistic Regression at late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880360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At Dy30: LightGBM 0.841 vs LogReg 0.799. The non-linear interactions between assays (e.g. Lactate + Glutamate + Malate growth) require tree-based splits to capture. LogReg plateaus earlier and shows higher variance.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3840480"/>
            <a:ext cx="73152" cy="45720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84048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D6B"/>
                </a:solidFill>
              </a:rPr>
              <a:t>Malate growth is top feature at Day 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251960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MalateGlo_growth (day-to-day change in malate concentration) ranks #1 at Dy30, ahead of raw Lactate and Glutamate concentrations. This suggests organoids are differentiated by TCA cycle activity in the final week of culture.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" y="5212080"/>
            <a:ext cx="73152" cy="45720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521208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D6B"/>
                </a:solidFill>
              </a:rPr>
              <a:t>Data quality handled by conditional exclusion + NaN floor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5623560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MalateGlo at Dy10 had a plate-level contamination issue (values to −5662 µM). The pipeline's CONDITIONAL_METABOLITES gate already excluded MalateGlo at Dy10, so the model was unaffected. A NaN floor (−500 µM) was added as defensive code.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