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88952" cy="2011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600">
                <a:solidFill>
                  <a:srgbClr val="FFFFFF"/>
                </a:solidFill>
              </a:rPr>
              <a:t>Image-Based Organoid Quality Classifier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20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2000">
                <a:solidFill>
                  <a:srgbClr val="DDEEFF"/>
                </a:solidFill>
              </a:rPr>
              <a:t>EfficientNet-B0 · Fixed Train/Val/Test Split · series_idor Cohort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500">
                <a:solidFill>
                  <a:srgbClr val="CCDDEE"/>
                </a:solidFill>
              </a:rPr>
              <a:t>Architecture:  EfficientNet-B0 (ImageNet pretrained) → 128-dim → binary logit
Input:         cm_source_image  (mean-filled background, 384×512 px)
Cohort:        series_idor  (132 organoids, edge_fraction ≤ 0.05 every day)
Split:         70 / 10 / 20 % stratified (fixed seed)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</a:rPr>
              <a:t>Architecture &amp; Training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AACCFF"/>
                </a:solidFill>
              </a:rPr>
              <a:t>EfficientNet-B0 with two-phase fine-tuning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834640" y="1097280"/>
            <a:ext cx="8229600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3385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FFFFFF"/>
                </a:solidFill>
              </a:rPr>
              <a:t>Component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1133856"/>
            <a:ext cx="8138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FFFFFF"/>
                </a:solidFill>
              </a:rPr>
              <a:t>Detail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44752"/>
            <a:ext cx="25603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34640" y="1444752"/>
            <a:ext cx="82296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48132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Backbone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481328"/>
            <a:ext cx="8138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EfficientNet-B0 (timm, ImageNet pretrained, frozen initially)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792224"/>
            <a:ext cx="2560320" cy="347472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34640" y="1792224"/>
            <a:ext cx="8229600" cy="347472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182880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Head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1828800"/>
            <a:ext cx="8138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Linear(1280→128) → ReLU → Dropout(0.5) → Linear(128→1)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139696"/>
            <a:ext cx="25603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34640" y="2139696"/>
            <a:ext cx="82296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217627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Input size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2176272"/>
            <a:ext cx="8138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384 × 512 px  (H × W)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487168"/>
            <a:ext cx="2560320" cy="347472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834640" y="2487168"/>
            <a:ext cx="8229600" cy="347472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2523744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Phase 1 (ep 0–3)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2523744"/>
            <a:ext cx="8138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Backbone frozen; head-only Adam lr=5e-4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834640"/>
            <a:ext cx="25603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834640" y="2834640"/>
            <a:ext cx="82296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287121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Phase 2 (ep 4+)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2871216"/>
            <a:ext cx="8138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Last 2 EfficientNet blocks + conv_head unfrozen; Adam lr=5e-5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182112"/>
            <a:ext cx="2560320" cy="347472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34640" y="3182112"/>
            <a:ext cx="8229600" cy="347472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21868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Loss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3218688"/>
            <a:ext cx="8138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BCEWithLogitsLoss; pos_weight = n_Acc / n_NAcc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529584"/>
            <a:ext cx="25603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834640" y="3529584"/>
            <a:ext cx="82296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" y="356616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Scheduler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3566160"/>
            <a:ext cx="8138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ReduceLROnPlateau (factor=0.5, patience=5 ep)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3877056"/>
            <a:ext cx="2560320" cy="347472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34640" y="3877056"/>
            <a:ext cx="8229600" cy="347472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391363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Early stopping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80360" y="3913632"/>
            <a:ext cx="8138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Patience=15 epochs on val accuracy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4224528"/>
            <a:ext cx="25603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34640" y="4224528"/>
            <a:ext cx="82296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4261104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Max epochs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80360" y="4261104"/>
            <a:ext cx="8138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100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572000"/>
            <a:ext cx="2560320" cy="347472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34640" y="4572000"/>
            <a:ext cx="8229600" cy="347472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0040" y="460857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Batch size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80360" y="4608576"/>
            <a:ext cx="8138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16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4919472"/>
            <a:ext cx="25603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34640" y="4919472"/>
            <a:ext cx="82296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" y="495604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Grad clip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80360" y="4956048"/>
            <a:ext cx="8138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1.0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5266944"/>
            <a:ext cx="2560320" cy="347472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834640" y="5266944"/>
            <a:ext cx="8229600" cy="347472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530352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Seed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80360" y="5303520"/>
            <a:ext cx="8138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1 (numpy, torch, cuda)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</a:rPr>
              <a:t>Data Augmentation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AACCFF"/>
                </a:solidFill>
              </a:rPr>
              <a:t>Covers all 8 dihedral symmetries without redundant transforms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11430000" cy="32004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25296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FFFFFF"/>
                </a:solidFill>
              </a:rPr>
              <a:t>RandomHorizontalFlip(p=0.5)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3619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Together with full ±180° rotation, covers all dihedral symmetries.
VerticalFlip omitted: V-flip = H-flip + 180° rotation (redundant).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103120"/>
            <a:ext cx="11430000" cy="32004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139696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FFFFFF"/>
                </a:solidFill>
              </a:rPr>
              <a:t>RandomAffine(degrees=180, translate=(±10%), fill=ImageNet-mean)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5059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Single interpolation pass for rotation + translation.
Fill colour = [123, 116, 103] (ImageNet mean) matches the background,
so revealed areas blend with the mean-filled background.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017520"/>
            <a:ext cx="11430000" cy="32004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054096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FFFFFF"/>
                </a:solidFill>
              </a:rPr>
              <a:t>ColorJitter(brightness=0.3, contrast=0.3, saturation=0.2, hue=0.05)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6499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Intensity/contrast jitter for photometric robustness.
Hue kept small: mean-filled background is achromatic and doesn't shift with hue.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931920"/>
            <a:ext cx="11430000" cy="32004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968496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FFFFFF"/>
                </a:solidFill>
              </a:rPr>
              <a:t>Translation disabled for Dy28 / Dy30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7939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At late days, large organoids may touch the image boundary.
Translation would shift boundary-clipped cells — disabled for these days.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</a:rPr>
              <a:t>Dataset &amp;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AACCFF"/>
                </a:solidFill>
              </a:rPr>
              <a:t>series_idor cohort — fixed stratified split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43000"/>
            <a:ext cx="2926080" cy="411480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0" y="1143000"/>
            <a:ext cx="8686800" cy="411480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957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444444"/>
                </a:solidFill>
              </a:rPr>
              <a:t>Cohort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179576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444444"/>
                </a:solidFill>
              </a:rPr>
              <a:t>series_idor  (ef ≤ 0.05 at every timepoint)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63624"/>
            <a:ext cx="292608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0" y="1563624"/>
            <a:ext cx="8686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002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444444"/>
                </a:solidFill>
              </a:rPr>
              <a:t>Organoids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600200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444444"/>
                </a:solidFill>
              </a:rPr>
              <a:t>132 total  (same label across all days)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984248"/>
            <a:ext cx="2926080" cy="411480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0" y="1984248"/>
            <a:ext cx="8686800" cy="411480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02082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444444"/>
                </a:solidFill>
              </a:rPr>
              <a:t>Labels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020824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444444"/>
                </a:solidFill>
              </a:rPr>
              <a:t>Labels derived from Day-30 survey votes (majority)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404872"/>
            <a:ext cx="292608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0" y="2404872"/>
            <a:ext cx="8686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44144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444444"/>
                </a:solidFill>
              </a:rPr>
              <a:t>Train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2441448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444444"/>
                </a:solidFill>
              </a:rPr>
              <a:t>95 organoids  (15 Not Acceptable, 80 Acceptable)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825496"/>
            <a:ext cx="2926080" cy="411480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0" y="2825496"/>
            <a:ext cx="8686800" cy="411480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286207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444444"/>
                </a:solidFill>
              </a:rPr>
              <a:t>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2862072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444444"/>
                </a:solidFill>
              </a:rPr>
              <a:t>10 organoids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246120"/>
            <a:ext cx="292608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0" y="3246120"/>
            <a:ext cx="8686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444444"/>
                </a:solidFill>
              </a:rPr>
              <a:t>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3282696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444444"/>
                </a:solidFill>
              </a:rPr>
              <a:t>27 organoids  (5 Not Acceptable, 22 Acceptable)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666744"/>
            <a:ext cx="2926080" cy="411480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0" y="3666744"/>
            <a:ext cx="8686800" cy="411480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370332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444444"/>
                </a:solidFill>
              </a:rPr>
              <a:t>Input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3703320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444444"/>
                </a:solidFill>
              </a:rPr>
              <a:t>cm_source_image  — segmentation-masked, background mean-filled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087368"/>
            <a:ext cx="292608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00400" y="4087368"/>
            <a:ext cx="8686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412394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444444"/>
                </a:solidFill>
              </a:rPr>
              <a:t>Image size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4123944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444444"/>
                </a:solidFill>
              </a:rPr>
              <a:t>384 × 512 px  (aspect-ratio-conserved resize from 575×575)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4507992"/>
            <a:ext cx="2926080" cy="411480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00400" y="4507992"/>
            <a:ext cx="8686800" cy="411480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454456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444444"/>
                </a:solidFill>
              </a:rPr>
              <a:t>Same split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91840" y="4544568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444444"/>
                </a:solidFill>
              </a:rPr>
              <a:t>All 11 days trained with identical organoid split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57607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888888"/>
                </a:solidFill>
              </a:rPr>
              <a:t>Note: label is per-organoid (not per-day). The same train/val/test organoids appear at all 11 days — each day trains a separate model on the same cohort split using that day's images.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</a:rPr>
              <a:t>Balanced Accuracy by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AACCFF"/>
                </a:solidFill>
              </a:rPr>
              <a:t>EfficientNet-B0 · series_idor cohort · fixed split</a:t>
            </a:r>
          </a:p>
        </p:txBody>
      </p:sp>
      <p:pic>
        <p:nvPicPr>
          <p:cNvPr id="5" name="Picture 4" descr="perday_image_balanced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0584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</a:rPr>
              <a:t>Per-Day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AACCFF"/>
                </a:solidFill>
              </a:rPr>
              <a:t>EfficientNet-B0 · series_idor · test set (n=27)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1051560"/>
            <a:ext cx="1005840" cy="39319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" y="1078992"/>
            <a:ext cx="96926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100">
                <a:solidFill>
                  <a:srgbClr val="FFFFFF"/>
                </a:solidFill>
              </a:rPr>
              <a:t>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1051560"/>
            <a:ext cx="914400" cy="39319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" y="1078992"/>
            <a:ext cx="87782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100">
                <a:solidFill>
                  <a:srgbClr val="FFFFFF"/>
                </a:solidFill>
              </a:rPr>
              <a:t>BalAcc</a:t>
            </a:r>
          </a:p>
        </p:txBody>
      </p:sp>
      <p:sp>
        <p:nvSpPr>
          <p:cNvPr id="9" name="Rectangle 8"/>
          <p:cNvSpPr/>
          <p:nvPr/>
        </p:nvSpPr>
        <p:spPr>
          <a:xfrm>
            <a:off x="2057400" y="1051560"/>
            <a:ext cx="1280160" cy="39319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75688" y="1078992"/>
            <a:ext cx="124358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100">
                <a:solidFill>
                  <a:srgbClr val="FFFFFF"/>
                </a:solidFill>
              </a:rPr>
              <a:t>Sensitivity
(recall NAcc)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051560"/>
            <a:ext cx="1280160" cy="39319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5848" y="1078992"/>
            <a:ext cx="124358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100">
                <a:solidFill>
                  <a:srgbClr val="FFFFFF"/>
                </a:solidFill>
              </a:rPr>
              <a:t>Specificity
(recall Acc)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051560"/>
            <a:ext cx="731520" cy="39319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1078992"/>
            <a:ext cx="69494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100">
                <a:solidFill>
                  <a:srgbClr val="FFFFFF"/>
                </a:solidFill>
              </a:rPr>
              <a:t>Acc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1051560"/>
            <a:ext cx="731520" cy="39319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1078992"/>
            <a:ext cx="69494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100">
                <a:solidFill>
                  <a:srgbClr val="FFFFFF"/>
                </a:solidFill>
              </a:rPr>
              <a:t>AUC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1051560"/>
            <a:ext cx="640080" cy="39319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9048" y="1078992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100">
                <a:solidFill>
                  <a:srgbClr val="FFFFFF"/>
                </a:solidFill>
              </a:rPr>
              <a:t>TN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20840" y="1051560"/>
            <a:ext cx="640080" cy="39319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39128" y="1078992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100">
                <a:solidFill>
                  <a:srgbClr val="FFFFFF"/>
                </a:solidFill>
              </a:rPr>
              <a:t>FP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60920" y="1051560"/>
            <a:ext cx="640080" cy="39319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1078992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100">
                <a:solidFill>
                  <a:srgbClr val="FFFFFF"/>
                </a:solidFill>
              </a:rPr>
              <a:t>FN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1000" y="1051560"/>
            <a:ext cx="640080" cy="39319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9288" y="1078992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100">
                <a:solidFill>
                  <a:srgbClr val="FFFFFF"/>
                </a:solidFill>
              </a:rPr>
              <a:t>TP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7160" y="1444752"/>
            <a:ext cx="100584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5448" y="1499616"/>
            <a:ext cx="96926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Dy03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1444752"/>
            <a:ext cx="91440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1288" y="1499616"/>
            <a:ext cx="87782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0.500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1444752"/>
            <a:ext cx="128016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75688" y="1499616"/>
            <a:ext cx="124358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37560" y="1444752"/>
            <a:ext cx="128016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55848" y="1499616"/>
            <a:ext cx="124358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1.000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17720" y="1444752"/>
            <a:ext cx="73152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36008" y="1499616"/>
            <a:ext cx="69494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0.815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49240" y="1444752"/>
            <a:ext cx="73152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67528" y="1499616"/>
            <a:ext cx="69494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0.373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80760" y="1444752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9048" y="1499616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22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20840" y="1444752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39128" y="1499616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60920" y="1444752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79208" y="1499616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01000" y="1444752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19288" y="1499616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1837944"/>
            <a:ext cx="100584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5448" y="1892808"/>
            <a:ext cx="96926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Dy06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43000" y="1837944"/>
            <a:ext cx="91440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61288" y="1892808"/>
            <a:ext cx="87782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0.500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057400" y="1837944"/>
            <a:ext cx="128016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75688" y="1892808"/>
            <a:ext cx="124358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37560" y="1837944"/>
            <a:ext cx="128016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55848" y="1892808"/>
            <a:ext cx="124358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1.000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17720" y="1837944"/>
            <a:ext cx="73152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36008" y="1892808"/>
            <a:ext cx="69494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0.815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49240" y="1837944"/>
            <a:ext cx="73152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67528" y="1892808"/>
            <a:ext cx="69494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0.727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80760" y="1837944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99048" y="1892808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22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720840" y="1837944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739128" y="1892808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60920" y="1837944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79208" y="1892808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001000" y="1837944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19288" y="1892808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37160" y="2231136"/>
            <a:ext cx="100584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55448" y="2286000"/>
            <a:ext cx="96926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Dy08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43000" y="2231136"/>
            <a:ext cx="91440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61288" y="2286000"/>
            <a:ext cx="87782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0.500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57400" y="2231136"/>
            <a:ext cx="128016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075688" y="2286000"/>
            <a:ext cx="124358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0.000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337560" y="2231136"/>
            <a:ext cx="128016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355848" y="2286000"/>
            <a:ext cx="124358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1.000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617720" y="2231136"/>
            <a:ext cx="73152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636008" y="2286000"/>
            <a:ext cx="69494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0.815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349240" y="2231136"/>
            <a:ext cx="73152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367528" y="2286000"/>
            <a:ext cx="69494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0.345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80760" y="2231136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099048" y="2286000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22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720840" y="2231136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39128" y="2286000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60920" y="2231136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379208" y="2286000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01000" y="2231136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019288" y="2286000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37160" y="2624328"/>
            <a:ext cx="100584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55448" y="2679192"/>
            <a:ext cx="96926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Dy10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143000" y="2624328"/>
            <a:ext cx="91440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161288" y="2679192"/>
            <a:ext cx="87782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0.500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057400" y="2624328"/>
            <a:ext cx="128016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075688" y="2679192"/>
            <a:ext cx="124358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0.000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337560" y="2624328"/>
            <a:ext cx="128016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355848" y="2679192"/>
            <a:ext cx="124358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1.000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617720" y="2624328"/>
            <a:ext cx="73152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636008" y="2679192"/>
            <a:ext cx="69494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0.815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349240" y="2624328"/>
            <a:ext cx="73152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367528" y="2679192"/>
            <a:ext cx="69494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0.582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080760" y="2624328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099048" y="2679192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22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720840" y="2624328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739128" y="2679192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360920" y="2624328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79208" y="2679192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5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001000" y="2624328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019288" y="2679192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37160" y="3017520"/>
            <a:ext cx="100584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55448" y="3072384"/>
            <a:ext cx="96926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Dy13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143000" y="3017520"/>
            <a:ext cx="91440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161288" y="3072384"/>
            <a:ext cx="87782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0.500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057400" y="3017520"/>
            <a:ext cx="128016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075688" y="3072384"/>
            <a:ext cx="124358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0.000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337560" y="3017520"/>
            <a:ext cx="128016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355848" y="3072384"/>
            <a:ext cx="124358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1.000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617720" y="3017520"/>
            <a:ext cx="73152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636008" y="3072384"/>
            <a:ext cx="69494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0.815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349240" y="3017520"/>
            <a:ext cx="73152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367528" y="3072384"/>
            <a:ext cx="69494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0.409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080760" y="3017520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099048" y="3072384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22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720840" y="3017520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739128" y="3072384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360920" y="3017520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379208" y="3072384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5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001000" y="3017520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019288" y="3072384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37160" y="3410712"/>
            <a:ext cx="100584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55448" y="3465576"/>
            <a:ext cx="96926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Dy15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143000" y="3410712"/>
            <a:ext cx="91440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161288" y="3465576"/>
            <a:ext cx="87782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0.500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057400" y="3410712"/>
            <a:ext cx="128016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075688" y="3465576"/>
            <a:ext cx="124358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0.000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337560" y="3410712"/>
            <a:ext cx="128016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355848" y="3465576"/>
            <a:ext cx="124358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1.000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617720" y="3410712"/>
            <a:ext cx="73152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636008" y="3465576"/>
            <a:ext cx="69494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0.815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349240" y="3410712"/>
            <a:ext cx="73152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367528" y="3465576"/>
            <a:ext cx="69494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0.645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080760" y="3410712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099048" y="3465576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22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720840" y="3410712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739128" y="3465576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360920" y="3410712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379208" y="3465576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5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001000" y="3410712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019288" y="3465576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37160" y="3803904"/>
            <a:ext cx="100584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55448" y="3858768"/>
            <a:ext cx="96926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Dy17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1143000" y="3803904"/>
            <a:ext cx="91440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161288" y="3858768"/>
            <a:ext cx="87782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0.577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057400" y="3803904"/>
            <a:ext cx="128016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075688" y="3858768"/>
            <a:ext cx="124358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0.200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337560" y="3803904"/>
            <a:ext cx="128016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355848" y="3858768"/>
            <a:ext cx="124358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0.955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617720" y="3803904"/>
            <a:ext cx="73152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636008" y="3858768"/>
            <a:ext cx="69494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0.815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349240" y="3803904"/>
            <a:ext cx="73152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367528" y="3858768"/>
            <a:ext cx="69494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0.591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080760" y="3803904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099048" y="3858768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21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720840" y="3803904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739128" y="3858768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1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7360920" y="3803904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7379208" y="3858768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4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8001000" y="3803904"/>
            <a:ext cx="640080" cy="393192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8019288" y="3858768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1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37160" y="4197096"/>
            <a:ext cx="1005840" cy="39319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55448" y="4251960"/>
            <a:ext cx="96926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Dy20_5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1143000" y="4197096"/>
            <a:ext cx="914400" cy="39319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1161288" y="4251960"/>
            <a:ext cx="87782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0.600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057400" y="4197096"/>
            <a:ext cx="1280160" cy="39319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2075688" y="4251960"/>
            <a:ext cx="124358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0.200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337560" y="4197096"/>
            <a:ext cx="1280160" cy="39319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3355848" y="4251960"/>
            <a:ext cx="124358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1.000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617720" y="4197096"/>
            <a:ext cx="731520" cy="39319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4636008" y="4251960"/>
            <a:ext cx="69494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0.852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5349240" y="4197096"/>
            <a:ext cx="731520" cy="39319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5367528" y="4251960"/>
            <a:ext cx="69494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0.855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6080760" y="4197096"/>
            <a:ext cx="640080" cy="39319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099048" y="4251960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22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720840" y="4197096"/>
            <a:ext cx="640080" cy="39319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739128" y="4251960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7360920" y="4197096"/>
            <a:ext cx="640080" cy="39319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7379208" y="4251960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4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8001000" y="4197096"/>
            <a:ext cx="640080" cy="39319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8019288" y="4251960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1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137160" y="4590288"/>
            <a:ext cx="100584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55448" y="4645152"/>
            <a:ext cx="96926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Dy24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1143000" y="4590288"/>
            <a:ext cx="91440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1161288" y="4645152"/>
            <a:ext cx="87782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0.800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057400" y="4590288"/>
            <a:ext cx="128016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2075688" y="4645152"/>
            <a:ext cx="124358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0.600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337560" y="4590288"/>
            <a:ext cx="128016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3355848" y="4645152"/>
            <a:ext cx="124358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1.000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4617720" y="4590288"/>
            <a:ext cx="73152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4636008" y="4645152"/>
            <a:ext cx="69494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0.926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5349240" y="4590288"/>
            <a:ext cx="73152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5367528" y="4645152"/>
            <a:ext cx="69494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0.873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080760" y="4590288"/>
            <a:ext cx="64008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099048" y="4645152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22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6720840" y="4590288"/>
            <a:ext cx="64008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6739128" y="4645152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7360920" y="4590288"/>
            <a:ext cx="64008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7379208" y="4645152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2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8001000" y="4590288"/>
            <a:ext cx="64008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8019288" y="4645152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3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137160" y="4983480"/>
            <a:ext cx="100584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55448" y="5038344"/>
            <a:ext cx="96926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Dy28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1143000" y="4983480"/>
            <a:ext cx="91440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1161288" y="5038344"/>
            <a:ext cx="87782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0.877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2057400" y="4983480"/>
            <a:ext cx="128016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2075688" y="5038344"/>
            <a:ext cx="124358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0.800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3337560" y="4983480"/>
            <a:ext cx="128016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3355848" y="5038344"/>
            <a:ext cx="124358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0.955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4617720" y="4983480"/>
            <a:ext cx="73152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4636008" y="5038344"/>
            <a:ext cx="69494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0.926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5349240" y="4983480"/>
            <a:ext cx="73152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5367528" y="5038344"/>
            <a:ext cx="69494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0.873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6080760" y="4983480"/>
            <a:ext cx="64008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099048" y="5038344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21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6720840" y="4983480"/>
            <a:ext cx="64008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6739128" y="5038344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1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7360920" y="4983480"/>
            <a:ext cx="64008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7379208" y="5038344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1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8001000" y="4983480"/>
            <a:ext cx="64008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8019288" y="5038344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4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137160" y="5376672"/>
            <a:ext cx="100584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155448" y="5431536"/>
            <a:ext cx="96926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Dy30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1143000" y="5376672"/>
            <a:ext cx="91440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1161288" y="5431536"/>
            <a:ext cx="87782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0.800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2057400" y="5376672"/>
            <a:ext cx="128016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2075688" y="5431536"/>
            <a:ext cx="124358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0.600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3337560" y="5376672"/>
            <a:ext cx="128016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3355848" y="5431536"/>
            <a:ext cx="124358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1.000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4617720" y="5376672"/>
            <a:ext cx="73152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4636008" y="5431536"/>
            <a:ext cx="69494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0.926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5349240" y="5376672"/>
            <a:ext cx="73152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5367528" y="5431536"/>
            <a:ext cx="69494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0.918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6080760" y="5376672"/>
            <a:ext cx="64008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6099048" y="5431536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22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6720840" y="5376672"/>
            <a:ext cx="64008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6739128" y="5431536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0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7360920" y="5376672"/>
            <a:ext cx="64008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7379208" y="5431536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2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8001000" y="5376672"/>
            <a:ext cx="640080" cy="39319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8019288" y="5431536"/>
            <a:ext cx="6035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444444"/>
                </a:solidFill>
              </a:rPr>
              <a:t>3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37160" y="581558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666666"/>
                </a:solidFill>
              </a:rPr>
              <a:t>Green = BalAcc ≥ 0.75   Yellow = 0.60–0.75   Red = &lt; 0.60    Sensitivity = TPR(NAcc)  Specificity = TPR(Acc)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</a:rPr>
              <a:t>Confusion Matrices — Late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AACCFF"/>
                </a:solidFill>
              </a:rPr>
              <a:t>Dy28 and Dy30  ·  test set (n=27: 5 NAcc, 22 Acc)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600">
                <a:solidFill>
                  <a:srgbClr val="1A1A2E"/>
                </a:solidFill>
              </a:rPr>
              <a:t>Dy28  —  BalAcc=0.877  Sens=0.800  Spec=0.955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1737360"/>
            <a:ext cx="1737360" cy="36576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23360" y="1737360"/>
            <a:ext cx="1737360" cy="36576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175564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300">
                <a:solidFill>
                  <a:srgbClr val="FFFFFF"/>
                </a:solidFill>
              </a:rPr>
              <a:t>Pred: Acc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175564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300">
                <a:solidFill>
                  <a:srgbClr val="FFFFFF"/>
                </a:solidFill>
              </a:rPr>
              <a:t>Pred: NAcc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03120"/>
            <a:ext cx="1371600" cy="73152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28600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300">
                <a:solidFill>
                  <a:srgbClr val="FFFFFF"/>
                </a:solidFill>
              </a:rPr>
              <a:t>Actual Acc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926080"/>
            <a:ext cx="1371600" cy="7315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10896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300">
                <a:solidFill>
                  <a:srgbClr val="FFFFFF"/>
                </a:solidFill>
              </a:rPr>
              <a:t>Actual NAcc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2103120"/>
            <a:ext cx="1737360" cy="731520"/>
          </a:xfrm>
          <a:prstGeom prst="rect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31720" y="217627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600">
                <a:solidFill>
                  <a:srgbClr val="1A1A2E"/>
                </a:solidFill>
              </a:rPr>
              <a:t>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52374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100">
                <a:solidFill>
                  <a:srgbClr val="444444"/>
                </a:solidFill>
              </a:rPr>
              <a:t>TN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0" y="2103120"/>
            <a:ext cx="1737360" cy="73152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69080" y="217627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600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9080" y="252374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100">
                <a:solidFill>
                  <a:srgbClr val="444444"/>
                </a:solidFill>
              </a:rPr>
              <a:t>FP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0" y="2926080"/>
            <a:ext cx="1737360" cy="73152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31720" y="299923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600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33467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100">
                <a:solidFill>
                  <a:srgbClr val="444444"/>
                </a:solidFill>
              </a:rPr>
              <a:t>FN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2926080"/>
            <a:ext cx="1737360" cy="731520"/>
          </a:xfrm>
          <a:prstGeom prst="rect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69080" y="299923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600">
                <a:solidFill>
                  <a:srgbClr val="1A1A2E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9080" y="33467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100">
                <a:solidFill>
                  <a:srgbClr val="444444"/>
                </a:solidFill>
              </a:rPr>
              <a:t>TP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1280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600">
                <a:solidFill>
                  <a:srgbClr val="1A1A2E"/>
                </a:solidFill>
              </a:rPr>
              <a:t>Dy30  —  BalAcc=0.800  Sens=0.600  Spec=1.000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20" y="1737360"/>
            <a:ext cx="1737360" cy="36576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1737360"/>
            <a:ext cx="1737360" cy="36576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0" y="175564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300">
                <a:solidFill>
                  <a:srgbClr val="FFFFFF"/>
                </a:solidFill>
              </a:rPr>
              <a:t>Pred: Acc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175564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300">
                <a:solidFill>
                  <a:srgbClr val="FFFFFF"/>
                </a:solidFill>
              </a:rPr>
              <a:t>Pred: NAcc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5120" y="2103120"/>
            <a:ext cx="1371600" cy="73152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0840" y="228600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300">
                <a:solidFill>
                  <a:srgbClr val="FFFFFF"/>
                </a:solidFill>
              </a:rPr>
              <a:t>Actual Acc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0" y="2926080"/>
            <a:ext cx="1371600" cy="7315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20840" y="310896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300">
                <a:solidFill>
                  <a:srgbClr val="FFFFFF"/>
                </a:solidFill>
              </a:rPr>
              <a:t>Actual NAcc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20" y="2103120"/>
            <a:ext cx="1737360" cy="731520"/>
          </a:xfrm>
          <a:prstGeom prst="rect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92440" y="217627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600">
                <a:solidFill>
                  <a:srgbClr val="1A1A2E"/>
                </a:solidFill>
              </a:rPr>
              <a:t>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2440" y="252374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100">
                <a:solidFill>
                  <a:srgbClr val="444444"/>
                </a:solidFill>
              </a:rPr>
              <a:t>TN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84080" y="2103120"/>
            <a:ext cx="1737360" cy="73152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29800" y="217627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600">
                <a:solidFill>
                  <a:srgbClr val="1A1A2E"/>
                </a:solidFill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29800" y="252374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100">
                <a:solidFill>
                  <a:srgbClr val="444444"/>
                </a:solidFill>
              </a:rPr>
              <a:t>FP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46720" y="2926080"/>
            <a:ext cx="1737360" cy="73152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92440" y="299923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600">
                <a:solidFill>
                  <a:srgbClr val="1A1A2E"/>
                </a:solidFill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92440" y="33467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100">
                <a:solidFill>
                  <a:srgbClr val="444444"/>
                </a:solidFill>
              </a:rPr>
              <a:t>FN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84080" y="2926080"/>
            <a:ext cx="1737360" cy="731520"/>
          </a:xfrm>
          <a:prstGeom prst="rect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29800" y="299923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600">
                <a:solidFill>
                  <a:srgbClr val="1A1A2E"/>
                </a:solidFill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29800" y="33467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100">
                <a:solidFill>
                  <a:srgbClr val="444444"/>
                </a:solidFill>
              </a:rPr>
              <a:t>TP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2120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444444"/>
                </a:solidFill>
              </a:rPr>
              <a:t>NAcc = Not Acceptable (label 1, minority class).  Green = correct prediction.  Orange = error.
Dy28: 1 FP + 1 FN → both classes mostly captured.  Dy30: 0 FP but 2 FN → model misses 2 of 5 NAcc organoids (small test set effect).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</a:rPr>
              <a:t>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AACCFF"/>
                </a:solidFill>
              </a:rPr>
              <a:t>Image-based classification — EfficientNet-B0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43000"/>
            <a:ext cx="11430000" cy="34747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79576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FFFFFF"/>
                </a:solidFill>
              </a:rPr>
              <a:t>Early days (Dy03–Dy15) not discriminative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27048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CCDDEE"/>
                </a:solidFill>
              </a:rPr>
              <a:t>Balanced accuracy = 0.50 for 6 of 11 days — model predicts all-Acceptable. No visual phenotype difference at early timepoints.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103120"/>
            <a:ext cx="11430000" cy="34747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139696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FFFFFF"/>
                </a:solidFill>
              </a:rPr>
              <a:t>Signal emerges from Dy17 onward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87168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CCDDEE"/>
                </a:solidFill>
              </a:rPr>
              <a:t>BalAcc rises from 0.58 (Dy17) → 0.60 (Dy20) → 0.80 (Dy24) → 0.88 (Dy28) → 0.80 (Dy30). Days with BalAcc ≥ 0.75: Dy24, Dy28, Dy30.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063240"/>
            <a:ext cx="11430000" cy="34747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099816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FFFFFF"/>
                </a:solidFill>
              </a:rPr>
              <a:t>Average balanced accuracy: 60.5%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47288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CCDDEE"/>
                </a:solidFill>
              </a:rPr>
              <a:t>Dragged down by early flat days.  Late-day performance (Dy24–Dy30) is strong.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023360"/>
            <a:ext cx="11430000" cy="34747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4059936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FFFFFF"/>
                </a:solidFill>
              </a:rPr>
              <a:t>Small test set limits confidence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07408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CCDDEE"/>
                </a:solidFill>
              </a:rPr>
              <a:t>Only 5 NAcc organoids in test set (27 total). Each misclassification changes balanced accuracy by ~10 pp.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983480"/>
            <a:ext cx="11430000" cy="34747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5020056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FFFFFF"/>
                </a:solidFill>
              </a:rPr>
              <a:t>Next step: 5-fold CV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367528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CCDDEE"/>
                </a:solidFill>
              </a:rPr>
              <a:t>Fixed split results are noisy due to small test set. 5-fold stratified CV will give more reliable balanced-accuracy estimates.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