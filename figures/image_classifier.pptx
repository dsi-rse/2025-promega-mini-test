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Image-Based Organoid Quality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DDEEFF"/>
                </a:solidFill>
              </a:rPr>
              <a:t>EfficientNet-B0 · 5-Fold Stratified CV · series_idor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CCDDEE"/>
                </a:solidFill>
              </a:rPr>
              <a:t>Architecture:  EfficientNet-B0 (ImageNet pretrained) → 128-dim → binary logit</a:t>
            </a:r>
          </a:p>
          <a:p>
            <a:pPr algn="l"/>
            <a:r>
              <a:rPr b="0" sz="1500">
                <a:solidFill>
                  <a:srgbClr val="CCDDEE"/>
                </a:solidFill>
              </a:rPr>
              <a:t>Input:         cm_image_abs  (mean-filled background, [178,178,178])</a:t>
            </a:r>
          </a:p>
          <a:p>
            <a:pPr algn="l"/>
            <a:r>
              <a:rPr b="0" sz="1500">
                <a:solidFill>
                  <a:srgbClr val="CCDDEE"/>
                </a:solidFill>
              </a:rPr>
              <a:t>Evaluation:    5-fold stratified CV, organoid-level; OOF balanced accuracy reported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Architecture &amp;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EfficientNet-B0 with two-phase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5603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097280"/>
            <a:ext cx="8229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33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133856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444752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81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48132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EfficientNet-B0 (timm, ImageNet pretrained, frozen initially)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92224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792224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82880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Linear(1280→128) → ReLU → Dropout(0.5) → Linear(128→1)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39696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139696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762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Input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176272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384 × 512 px  (H × 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87168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2487168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5237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Phase 1 (ep 0–3)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523744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Backbone frozen; head-only Adam lr=5e-4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34640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2834640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712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Phase 2 (ep 4+)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871216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Last 2 EfficientNet blocks + conv_head unfrozen; Adam lr=5e-5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82112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3182112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218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21868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BCEWithLogitsLoss; pos_weight = n_Acc / n_NAcc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2958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34640" y="3529584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566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Scheduler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356616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ReduceLROnPlateau (factor=0.5, patience=5 ep)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77056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3877056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913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Early stopping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913632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Patience=15 epochs on val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24528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34640" y="4224528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261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Max epochs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261104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572000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34640" y="4572000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608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Batch 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4608576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919472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34640" y="4919472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9560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Grad clip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495604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1.0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266944"/>
            <a:ext cx="256032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34640" y="5266944"/>
            <a:ext cx="8229600" cy="347472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303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Seed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5303520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1 (numpy, torch, cuda)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Data Augmentation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Covers all 8 dihedral symmetries without redundant transforms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430000" cy="320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RandomHorizontalFlip(p=0.5)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Together with full ±180° rotation, covers all dihedral symmetries.
VerticalFlip omitted: V-flip = H-flip + 180° rotation (redundant).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1430000" cy="320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396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RandomAffine(degrees=180, translate=(±10%), fill=[178, 178, 178])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Single interpolation pass for rotation + translation.</a:t>
            </a:r>
          </a:p>
          <a:p>
            <a:pPr algn="l"/>
            <a:r>
              <a:rPr b="0" sz="1300">
                <a:solidFill>
                  <a:srgbClr val="444444"/>
                </a:solidFill>
              </a:rPr>
              <a:t>Fill colour = [178, 178, 178] matches cm_image_abs background (verified from data).</a:t>
            </a:r>
          </a:p>
          <a:p>
            <a:pPr algn="l"/>
            <a:r>
              <a:rPr b="0" sz="1300">
                <a:solidFill>
                  <a:srgbClr val="444444"/>
                </a:solidFill>
              </a:rPr>
              <a:t>Translation ±10% enabled for ALL days (post-resize margin ≥113 px at Dy28/Dy30).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11430000" cy="320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ForegroundColorJitter(brightness=0.3, contrast=0.3, saturation=0.2, hue=0.05)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Applies ColorJitter to organoid pixels only; background mask ([178,178,178] ±3) is</a:t>
            </a:r>
          </a:p>
          <a:p>
            <a:pPr algn="l"/>
            <a:r>
              <a:rPr b="0" sz="1300">
                <a:solidFill>
                  <a:srgbClr val="444444"/>
                </a:solidFill>
              </a:rPr>
              <a:t>saved before and restored after jitter — background never changes colour.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11430000" cy="320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684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Rotation disabled for Dy28 / Dy30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93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At late days, organoid fills most of the frame; full ±180° rotation risks clipping it</a:t>
            </a:r>
          </a:p>
          <a:p>
            <a:pPr algn="l"/>
            <a:r>
              <a:rPr b="0" sz="1300">
                <a:solidFill>
                  <a:srgbClr val="444444"/>
                </a:solidFill>
              </a:rPr>
              <a:t>in the 384×512 (non-square) frame.  H-flip and translation remain active.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Dataset &amp;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series_idor cohort — 5-fold stratified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92608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143000"/>
            <a:ext cx="868680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Cohort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7957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series_idor  (ef ≤ 0.05 at every timepoint)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63624"/>
            <a:ext cx="29260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563624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Organoids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002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132 total  (same label across all days)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84248"/>
            <a:ext cx="292608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984248"/>
            <a:ext cx="868680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20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02082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Labels derived from Day-30 survey votes (majority)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04872"/>
            <a:ext cx="29260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404872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414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CV scheme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414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StratifiedKFold(n_splits=5, seed=1), organoid-level stratification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25496"/>
            <a:ext cx="292608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2825496"/>
            <a:ext cx="868680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862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Per-fold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862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~105 train / ~16 val (15% of train) / ~26 OOF test organoids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29260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246120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826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OOF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28269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132 organoids total (all 5 folds combined)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66744"/>
            <a:ext cx="292608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666744"/>
            <a:ext cx="868680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03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7033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cm_image_abs  — segmentation-masked, background mean-filled [178,178,178]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87368"/>
            <a:ext cx="29260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4087368"/>
            <a:ext cx="8686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1239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Image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12394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384 × 512 px  (aspect-ratio-conserved resize from 575×575)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07992"/>
            <a:ext cx="292608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507992"/>
            <a:ext cx="8686800" cy="41148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544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444444"/>
                </a:solidFill>
              </a:rPr>
              <a:t>Independence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445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444444"/>
                </a:solidFill>
              </a:rPr>
              <a:t>Independent model trained per day; same CV splits for all 11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888888"/>
                </a:solidFill>
              </a:rPr>
              <a:t>Note: label is per-organoid (same label across all days). BalAcc reported as mean ± std across 5 folds AND from OOF aggregated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Balanced Accuracy by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EfficientNet-B0 · series_idor cohort · 5-fold CV  (mean ±1 SD shading)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Per-Day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EfficientNet-B0 · series_idor · OOF (n=132), balanced accuracy mean ± std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051560"/>
            <a:ext cx="100584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" y="1078992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051560"/>
            <a:ext cx="91440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078992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BalAcc</a:t>
            </a:r>
          </a:p>
          <a:p>
            <a:pPr algn="ctr"/>
            <a:r>
              <a:rPr b="1" sz="1100">
                <a:solidFill>
                  <a:srgbClr val="FFFFFF"/>
                </a:solidFill>
              </a:rPr>
              <a:t>(mean±std)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051560"/>
            <a:ext cx="128016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107899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Sensitivity
(recall NAcc)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51560"/>
            <a:ext cx="128016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07899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Specificity
(recall Acc)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51560"/>
            <a:ext cx="73152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07899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051560"/>
            <a:ext cx="73152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107899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051560"/>
            <a:ext cx="64008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10789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TN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051560"/>
            <a:ext cx="64008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10789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FP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051560"/>
            <a:ext cx="64008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0789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FN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051560"/>
            <a:ext cx="640080" cy="393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0789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444752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" y="1499616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1444752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1499616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0.511±0.022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1444752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149961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444752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149961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1444752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149961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1444752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149961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0.468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44475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8" y="149961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144475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149961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144475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9208" y="149961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144475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9288" y="149961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1837944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" y="1892808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1837944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1892808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0.500±0.000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1837944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75688" y="1892808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1837944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5848" y="1892808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1837944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36008" y="1892808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0.833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1837944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67528" y="1892808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183794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9048" y="189280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20840" y="183794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39128" y="189280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183794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79208" y="189280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183794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9288" y="189280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" y="2231136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448" y="2286000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3000" y="2231136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61288" y="2286000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0.500±0.000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2231136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2286000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2231136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55848" y="2286000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2231136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36008" y="2286000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0.833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2231136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67528" y="2286000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0.469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2231136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99048" y="228600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20840" y="2231136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39128" y="228600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2231136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79208" y="228600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01000" y="2231136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19288" y="228600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7160" y="2624328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5448" y="2679192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43000" y="2624328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61288" y="2679192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0.491±0.018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2624328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267919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37560" y="2624328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55848" y="267919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0.982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17720" y="2624328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36008" y="267919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0.818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49240" y="2624328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67528" y="267919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0.432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0760" y="2624328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99048" y="26791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20840" y="2624328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39128" y="26791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60920" y="2624328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79208" y="26791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01000" y="2624328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19288" y="267919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7160" y="3017520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5448" y="3072384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Dy13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43000" y="3017520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61288" y="3072384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0.500±0.000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57400" y="3017520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75688" y="3072384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37560" y="3017520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55848" y="3072384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17720" y="3017520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36008" y="3072384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0.833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49240" y="3017520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67528" y="3072384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0.498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80760" y="3017520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99048" y="307238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20840" y="3017520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39128" y="307238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360920" y="3017520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79208" y="307238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01000" y="3017520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19288" y="307238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37160" y="3410712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55448" y="3465576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Dy15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43000" y="3410712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61288" y="3465576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0.545±0.103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057400" y="3410712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075688" y="346557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0.091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37560" y="3410712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55848" y="346557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0.991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17720" y="3410712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636008" y="346557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0.841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349240" y="3410712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67528" y="346557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0.565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0760" y="341071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099048" y="346557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109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720840" y="341071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39128" y="346557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360920" y="341071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379208" y="346557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01000" y="3410712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19288" y="346557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37160" y="3803904"/>
            <a:ext cx="100584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55448" y="3858768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Dy17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143000" y="3803904"/>
            <a:ext cx="91440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61288" y="3858768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0.607±0.113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057400" y="3803904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075688" y="3858768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0.273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337560" y="3803904"/>
            <a:ext cx="128016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355848" y="3858768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0.955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617720" y="3803904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36008" y="3858768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0.841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349240" y="3803904"/>
            <a:ext cx="73152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67528" y="3858768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0.713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80760" y="380390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099048" y="385876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720840" y="380390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739128" y="385876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360920" y="380390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379208" y="385876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001000" y="3803904"/>
            <a:ext cx="640080" cy="39319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019288" y="3858768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7160" y="4197096"/>
            <a:ext cx="100584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5448" y="4251960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Dy20_5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143000" y="4197096"/>
            <a:ext cx="91440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61288" y="4251960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0.801±0.068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057400" y="4197096"/>
            <a:ext cx="128016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075688" y="4251960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0.636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337560" y="4197096"/>
            <a:ext cx="128016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355848" y="4251960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0.973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617720" y="4197096"/>
            <a:ext cx="73152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636008" y="4251960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0.917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349240" y="4197096"/>
            <a:ext cx="73152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67528" y="4251960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080760" y="4197096"/>
            <a:ext cx="64008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099048" y="425196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107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720840" y="4197096"/>
            <a:ext cx="64008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739128" y="425196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0920" y="4197096"/>
            <a:ext cx="64008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379208" y="425196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001000" y="4197096"/>
            <a:ext cx="640080" cy="39319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019288" y="4251960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37160" y="4590288"/>
            <a:ext cx="100584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5448" y="4645152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Dy24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43000" y="4590288"/>
            <a:ext cx="91440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61288" y="4645152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0.853±0.087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57400" y="4590288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75688" y="464515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0.773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337560" y="4590288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355848" y="4645152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0.936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17720" y="4590288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36008" y="464515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0.909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349240" y="4590288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367528" y="4645152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0.872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080760" y="4590288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099048" y="464515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103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720840" y="4590288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739128" y="464515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360920" y="4590288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379208" y="464515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001000" y="4590288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019288" y="4645152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17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37160" y="4983480"/>
            <a:ext cx="100584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55448" y="5038344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Dy28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43000" y="4983480"/>
            <a:ext cx="91440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61288" y="5038344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0.740±0.132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057400" y="4983480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075688" y="5038344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0.500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337560" y="4983480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355848" y="5038344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617720" y="4983480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636008" y="5038344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0.917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349240" y="4983480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367528" y="5038344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0.862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080760" y="4983480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099048" y="503834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720840" y="4983480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739128" y="503834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360920" y="4983480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7379208" y="503834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001000" y="4983480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019288" y="5038344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37160" y="5376672"/>
            <a:ext cx="100584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55448" y="5431536"/>
            <a:ext cx="9692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Dy30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143000" y="5376672"/>
            <a:ext cx="91440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61288" y="5431536"/>
            <a:ext cx="87782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0.840±0.097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057400" y="5376672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075688" y="543153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0.682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337560" y="5376672"/>
            <a:ext cx="128016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355848" y="5431536"/>
            <a:ext cx="12435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1.000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617720" y="5376672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636008" y="543153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0.947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349240" y="5376672"/>
            <a:ext cx="73152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367528" y="5431536"/>
            <a:ext cx="69494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0.911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080760" y="5376672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099048" y="543153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110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720840" y="5376672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739128" y="543153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360920" y="5376672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379208" y="543153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001000" y="5376672"/>
            <a:ext cx="640080" cy="39319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019288" y="5431536"/>
            <a:ext cx="603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444444"/>
                </a:solidFill>
              </a:rPr>
              <a:t>15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37160" y="58155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666666"/>
                </a:solidFill>
              </a:rPr>
              <a:t>Green = BalAcc ≥ 0.75   Yellow = 0.60–0.75   Red = &lt; 0.60    Sensitivity = OOF TPR(NAcc)   Specificity = OOF TPR(Acc)   TN/FP/FN/TP from aggregated OOF predictions (n=132)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Confusion Matrices — Late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Dy28 and Dy30  ·  OOF predictions (n=132: 22 NAcc, 110 Acc)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1A1A2E"/>
                </a:solidFill>
              </a:rPr>
              <a:t>Dy28  —  BalAcc=0.740  Sens=0.500  Spec=1.000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737360"/>
            <a:ext cx="1737360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1737360"/>
            <a:ext cx="1737360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7556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Pred: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556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Pred: NAcc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1371600" cy="7315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Actual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371600" cy="7315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Actual NAcc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03120"/>
            <a:ext cx="1737360" cy="7315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1762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TN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103120"/>
            <a:ext cx="1737360" cy="73152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21762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FP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926080"/>
            <a:ext cx="1737360" cy="73152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346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FN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926080"/>
            <a:ext cx="1737360" cy="7315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346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1A1A2E"/>
                </a:solidFill>
              </a:rPr>
              <a:t>Dy30  —  BalAcc=0.840  Sens=0.682  Spec=1.000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737360"/>
            <a:ext cx="1737360" cy="3657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737360"/>
            <a:ext cx="1737360" cy="3657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7556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Pred: Acc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17556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Pred: NAcc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103120"/>
            <a:ext cx="1371600" cy="7315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Actual Acc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926080"/>
            <a:ext cx="1371600" cy="7315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Actual NAcc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103120"/>
            <a:ext cx="1737360" cy="7315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21762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110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TN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2103120"/>
            <a:ext cx="1737360" cy="73152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21762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FP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2926080"/>
            <a:ext cx="1737360" cy="73152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346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FN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2926080"/>
            <a:ext cx="1737360" cy="7315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3346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444444"/>
                </a:solidFill>
              </a:rPr>
              <a:t>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444444"/>
                </a:solidFill>
              </a:rPr>
              <a:t>NAcc = Not Acceptable (label 1, minority class).  Green = correct.  Orange = error.</a:t>
            </a:r>
          </a:p>
          <a:p>
            <a:pPr algn="l"/>
            <a:r>
              <a:rPr b="0" sz="1300">
                <a:solidFill>
                  <a:srgbClr val="444444"/>
                </a:solidFill>
              </a:rPr>
              <a:t>Dy28: 0 FP + 11 FN.  Dy30: 0 FP + 7 FN.  OOF aggregation across 5 folds (n=132 total).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Image-based classification — EfficientNet-B0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43000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95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Early days (Dy03–Dy15) not discriminative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DDEE"/>
                </a:solidFill>
              </a:rPr>
              <a:t>BalAcc ≤ 0.51 for Dy03–Dy15 (6 of 11 days). Model predicts all-Acceptable at early timepoints; no separable visual phenotype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143000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3969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Signal emerges from Dy17 onward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DDEE"/>
                </a:solidFill>
              </a:rPr>
              <a:t>5-fold OOF BalAcc: 0.61 (Dy17) → 0.80 (Dy20.5) → 0.85 (Dy24) → 0.74 (Dy28) → 0.84 (Dy30). Days with BalAcc ≥ 0.75: Dy20.5, Dy24, Dy30.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1143000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998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Average balanced accuracy: 62.6%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DDEE"/>
                </a:solidFill>
              </a:rPr>
              <a:t>Overall mean (all 11 days) = 62.6%; late days Dy20.5–Dy30 average 80.9%. Corrected augmentation (fill=[178,178,178], ForegroundColorJitter) drove major improvements at Dy20.5 (+23 pp) and Dy24 (+27 pp) vs earlier runs.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1143000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0599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5-fold CV provides robust estimates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DDEE"/>
                </a:solidFill>
              </a:rPr>
              <a:t>OOF results on all 132 organoids; fold std ≤ 0.13 at late days. Augmentation reduces variance at early/mid days vs no-augmentation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83480"/>
            <a:ext cx="1143000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0200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Multi-modal fusion adds marginal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6752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CCDDEE"/>
                </a:solidFill>
              </a:rPr>
              <a:t>Morph+Image (mean-prob) reaches 0.896 at Dy30 vs image-only 0.840. Fusion reduces fold variance more than it boosts the mean. See combined_kfold_two_panel_series_idor.png for full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</a:rPr>
              <a:t>Augmentation Ablation — With vs. Without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AACCFF"/>
                </a:solidFill>
              </a:rPr>
              <a:t>series_idor cohort · 5-fold CV  (mean ±1 SD shading)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