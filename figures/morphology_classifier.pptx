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Morphology-Based Organoid Quality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CCFF"/>
                </a:solidFill>
              </a:rPr>
              <a:t>Shape &amp; size features  ·  LightGBM vs Logistic Regression  ·  5-fold stratified 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• 7 morphology features derived from segmentation masks (ImageJ/FIJI metrics)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• Evaluated on two cohorts: base (205 organoids, no edge filter) and series_idor (132 organoids, edge-fraction ≤ 0.05 at every timepoint)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• Goal: understand how well shape alone predicts Acceptable vs Not Acceptable quality at day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Balanced accuracy = (TPR + TNR) / 2  |  Threshold fixed at 0.5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Morphology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7 metrics computed per organoid per timepoint from segmentation masks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11978640" cy="420624"/>
          </a:xfrm>
          <a:prstGeom prst="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129792"/>
            <a:ext cx="1115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Column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29792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129792"/>
            <a:ext cx="30906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Formula /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129792"/>
            <a:ext cx="15727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129792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1499616"/>
            <a:ext cx="11978640" cy="42062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1537716"/>
            <a:ext cx="1115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D6B"/>
                </a:solidFill>
              </a:rPr>
              <a:t>Circ._win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537716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D6B"/>
                </a:solidFill>
              </a:rPr>
              <a:t>Circularity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537716"/>
            <a:ext cx="30906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4π·Area / Perimeter²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537716"/>
            <a:ext cx="15727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0.32 – 0.87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537716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1 = perfect circle; lower = irregular outline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920240"/>
            <a:ext cx="11978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" y="1958340"/>
            <a:ext cx="1115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D6B"/>
                </a:solidFill>
              </a:rPr>
              <a:t>AR_win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1958340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D6B"/>
                </a:solidFill>
              </a:rPr>
              <a:t>Aspect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1958340"/>
            <a:ext cx="30906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Major axis / Minor axis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958340"/>
            <a:ext cx="15727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1.0 – 2.6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958340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1 = round; higher = elongated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2340864"/>
            <a:ext cx="11978640" cy="42062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2378964"/>
            <a:ext cx="1115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D6B"/>
                </a:solidFill>
              </a:rPr>
              <a:t>Solidity_win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378964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D6B"/>
                </a:solidFill>
              </a:rPr>
              <a:t>Solidity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2378964"/>
            <a:ext cx="30906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Area / Convex-hull area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378964"/>
            <a:ext cx="15727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0.71 – 0.99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378964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1 = fully convex; lower = lobulated / concave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" y="2761488"/>
            <a:ext cx="11978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2799588"/>
            <a:ext cx="1115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D6B"/>
                </a:solidFill>
              </a:rPr>
              <a:t>Complexity_win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2799588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D6B"/>
                </a:solidFill>
              </a:rPr>
              <a:t>Complexity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2799588"/>
            <a:ext cx="30906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Convex perimeter / Perimeter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2799588"/>
            <a:ext cx="15727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0.15 – 0.44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799588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Lower = more irregular boundary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" y="3182112"/>
            <a:ext cx="11978640" cy="42062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" y="3220212"/>
            <a:ext cx="1115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F0E"/>
                </a:solidFill>
              </a:rPr>
              <a:t>Feret_win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220212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F0E"/>
                </a:solidFill>
              </a:rPr>
              <a:t>Max Feret diam.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3220212"/>
            <a:ext cx="30906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Longest spanning distance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3220212"/>
            <a:ext cx="15727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502 – 4218 µm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220212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Overall organoid size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" y="3602736"/>
            <a:ext cx="119786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" y="3640836"/>
            <a:ext cx="1115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F0E"/>
                </a:solidFill>
              </a:rPr>
              <a:t>Area_win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3640836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F0E"/>
                </a:solidFill>
              </a:rPr>
              <a:t>2-D Area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3640836"/>
            <a:ext cx="30906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Projected area from mask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3640836"/>
            <a:ext cx="15727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0.19 – 5.8 mm²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640836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Size; truncated if organoid hits image edge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" y="4023360"/>
            <a:ext cx="11978640" cy="420624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" y="4061460"/>
            <a:ext cx="1115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F0E"/>
                </a:solidFill>
              </a:rPr>
              <a:t>Volume_win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4061460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F0E"/>
                </a:solidFill>
              </a:rPr>
              <a:t>3-D Volume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4061460"/>
            <a:ext cx="30906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Estimated from 2-D area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4061460"/>
            <a:ext cx="15727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9 – 633 × 10⁶ µm³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061460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99 missing values → NaN-handled by LGBM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* Orange = size/growth features (Feret, Area, Volume) — dominant signal at late days. Shape descriptors (Circ, AR, Solidity, Complexity) show near-zero class separation.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5-Fold CV Results — base cohort (205 organoids)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No edge-fraction filter · area/size measurements may be truncated at late days</a:t>
            </a:r>
          </a:p>
        </p:txBody>
      </p:sp>
      <p:pic>
        <p:nvPicPr>
          <p:cNvPr id="5" name="Picture 4" descr="morphology_LightGBM_vs_Log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78992"/>
            <a:ext cx="1060704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LightGBM best 0.81 (Dy28). LogReg collapses to 0.50 at Dy30 — linear boundary breaks under boundary-truncated area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5-Fold CV Results — series_idor cohort (132 organoids)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Edge-fraction ≤ 0.05 enforced at every timepoint · clean size measurements</a:t>
            </a:r>
          </a:p>
        </p:txBody>
      </p:sp>
      <p:pic>
        <p:nvPicPr>
          <p:cNvPr id="5" name="Picture 4" descr="morphology_LightGBM_vs_LogReg_series_i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78992"/>
            <a:ext cx="1060704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LightGBM best 0.88 (Dy30). LogReg recovers to 0.87. Both models converge — confirming edge truncation was the root cause.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LightGBM Balanced Accuracy: base vs series_idor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Mean ± Std (5-fold CV)  |  series_idor enforces edge-fraction ≤ 0.05 at every timepoint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1078992"/>
            <a:ext cx="11795760" cy="402336"/>
          </a:xfrm>
          <a:prstGeom prst="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12979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12979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base (205 org.)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129792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series_idor (132 org.)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12979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Δ (idor − base)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481328"/>
            <a:ext cx="117957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151942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D6B"/>
                </a:solidFill>
              </a:rPr>
              <a:t>Dy03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19428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0.453 ± 0.065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519428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0.605 ± 0.133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1942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+0.153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" y="1883664"/>
            <a:ext cx="117957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192176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D6B"/>
                </a:solidFill>
              </a:rPr>
              <a:t>Dy06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92176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0.509 ± 0.063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921764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0.511 ± 0.064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92176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+0.002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2286000"/>
            <a:ext cx="117957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2324100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D6B"/>
                </a:solidFill>
              </a:rPr>
              <a:t>Dy08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32410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0.497 ± 0.034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324100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0.528 ± 0.072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32410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+0.031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2688336"/>
            <a:ext cx="117957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272643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D6B"/>
                </a:solidFill>
              </a:rPr>
              <a:t>Dy10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272643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0.518 ± 0.069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726436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0.483 ± 0.087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72643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62728"/>
                </a:solidFill>
              </a:rPr>
              <a:t>-0.035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3090672"/>
            <a:ext cx="117957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312877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D6B"/>
                </a:solidFill>
              </a:rPr>
              <a:t>Dy13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12877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0.566 ± 0.081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128772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0.429 ± 0.065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12877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62728"/>
                </a:solidFill>
              </a:rPr>
              <a:t>-0.137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3493008"/>
            <a:ext cx="117957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353110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D6B"/>
                </a:solidFill>
              </a:rPr>
              <a:t>Dy15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3531108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0.485 ± 0.035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531108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0.555 ± 0.053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53110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+0.071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" y="3895344"/>
            <a:ext cx="117957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" y="393344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D6B"/>
                </a:solidFill>
              </a:rPr>
              <a:t>Dy17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393344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0.579 ± 0.074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3933444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0.564 ± 0.076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93344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-0.016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4297680"/>
            <a:ext cx="117957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4335780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D6B"/>
                </a:solidFill>
              </a:rPr>
              <a:t>Dy20_5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433578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0.703 ± 0.052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4335780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0.748 ± 0.114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33578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+0.045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" y="4700016"/>
            <a:ext cx="117957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" y="473811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D6B"/>
                </a:solidFill>
              </a:rPr>
              <a:t>Dy24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0" y="473811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0.748 ± 0.080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4738116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0.821 ± 0.159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73811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+0.074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5102352"/>
            <a:ext cx="117957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51404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D6B"/>
                </a:solidFill>
              </a:rPr>
              <a:t>Dy28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514045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0.808 ± 0.114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0" y="5140452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0.857 ± 0.118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514045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+0.049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5504688"/>
            <a:ext cx="117957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2880" y="554278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D6B"/>
                </a:solidFill>
              </a:rPr>
              <a:t>Dy30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5542788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0.790 ± 0.065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5542788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0.877 ± 0.145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554278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A02C"/>
                </a:solidFill>
              </a:rPr>
              <a:t>+0.087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Green Δ: idor substantially improves over base.  Late-day gains confirm that edge-truncation was depressing base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43000"/>
            <a:ext cx="73152" cy="4572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D6B"/>
                </a:solidFill>
              </a:rPr>
              <a:t>Size drives performance, shape does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Circularity, AR, Solidity, and Complexity show near-zero class separation. Feret diameter and 2-D Area carry the discriminative signal — large organoids grow to be Acceptable.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2468880"/>
            <a:ext cx="73152" cy="4572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D6B"/>
                </a:solidFill>
              </a:rPr>
              <a:t>Performance improves monotonically from Day 20.5 onward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803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Before Dy17 both models hover near chance (0.50–0.63). The late-protocol window (Dy24–Dy30) is where morphology becomes informative.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3794760"/>
            <a:ext cx="73152" cy="4572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7947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D6B"/>
                </a:solidFill>
              </a:rPr>
              <a:t>Edge truncation was masking late-day performance (base cohort)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0624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In the base cohort, 41 / 171 Acceptable organoids at Dy30 had edge-fraction &gt; 0.05 — their area was underestimated, confusing the classifier. Switching to series_idor (ef ≤ 0.05) raised LightGBM Dy30 from 0.79 → 0.88 and LogReg from 0.50 → 0.87.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5120640"/>
            <a:ext cx="73152" cy="4572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1206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D6B"/>
                </a:solidFill>
              </a:rPr>
              <a:t>Best result: LightGBM Dy30 0.88  |  LogReg Dy28–Dy30 ~0.87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321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Both models converge at late days once clean measurements are used. Morphology alone at Dy30 approaches the metabolite classifier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